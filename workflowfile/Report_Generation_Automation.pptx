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58" r:id="rId6"/>
    <p:sldId id="259" r:id="rId7"/>
    <p:sldId id="261" r:id="rId8"/>
    <p:sldId id="260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D794D-A1D8-A963-716E-5B2E751D15B9}" v="31" dt="2026-03-19T03:56:13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FE58-FE76-488E-94B6-4BD796A07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FC3F0C-E302-4BEC-9E82-504916301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A2949-A87C-4F67-8F90-314B50EB8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2B73-A141-45CC-B441-55743267817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E0B4F-DB47-40AC-9BAF-F971159D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495A0-8297-40C3-A7FB-868CF8C96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4BF9-938E-4E73-9E50-6DA27E16E7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97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AAE6-A0DE-4BBA-A198-FA258DCB5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4D99E-36DD-4BE5-AAEA-6D4FCAC84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6E08E-4CCF-46B3-B440-B9C9B5E5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2B73-A141-45CC-B441-55743267817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AF861-E8B9-417C-BF51-412B71A45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00D8F-C04C-4AE8-9101-FADC368B9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4BF9-938E-4E73-9E50-6DA27E16E7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15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5BEFF-F737-4A7B-B0DE-41231A82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B155E-E9D8-42BA-ABDE-4253310C9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E5260-CC35-4140-83D6-BE0F70E34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2B73-A141-45CC-B441-55743267817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D62CF-4F47-4901-B752-1F4BDC57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AD092-CF5C-4C3B-A8E0-FC36D2A0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4BF9-938E-4E73-9E50-6DA27E16E7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24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072C-3156-4414-928F-481538F24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B8820-9BB3-4C77-B3D0-6ABBA0348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2166F-C0E0-478B-8AC3-99540DADA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28605-0BFA-4DE5-B0FB-49BA30D5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2B73-A141-45CC-B441-55743267817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41E14-D35B-4F3C-821F-22DD06313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3A75D-98EC-4AFA-87BF-D99BE08B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4BF9-938E-4E73-9E50-6DA27E16E7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069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D2520-2D24-4A66-A938-B2B377331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4F70E-D7A5-4471-9F2F-5F36F5E09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061CC-A4A1-4AE3-8373-70EF69C8D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E62159-B387-466D-89D7-269A890882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745C68-982D-4832-AD9B-0A7D56023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B1BEF1-2259-4620-BDCB-50D2F3D8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2B73-A141-45CC-B441-55743267817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A7E6AB-5E74-44A7-BFA2-CB1463A16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9AF9A6-0C14-429C-8EF4-428C594A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4BF9-938E-4E73-9E50-6DA27E16E7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4744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7536A-07B0-4394-BF06-E944A316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2F0AAD-05D1-46B6-B0F5-9FF56BA92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2B73-A141-45CC-B441-55743267817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C3649-8657-4516-BDFF-85523329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DCF5C5-623E-4F8A-9269-A6098A965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4BF9-938E-4E73-9E50-6DA27E16E7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13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035B6-8438-4244-949C-7D9AC54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2B73-A141-45CC-B441-55743267817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E11813-B896-409A-9580-38C87B03E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39AD4-E7CE-4A73-A28F-B1C62EF6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4BF9-938E-4E73-9E50-6DA27E16E7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49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D2CCB-EB22-4792-B775-8A0C6B83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68A3-FB1E-48BC-ADB0-CEB66B0D3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30AB8-AF91-46E8-895D-D37BD4A81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087A2-C9E4-4002-AF61-D2D1F157A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2B73-A141-45CC-B441-55743267817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F79A3-04A4-496F-A4D0-3D07CE7F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74840-DA19-4B3F-849A-A0A4FDC7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4BF9-938E-4E73-9E50-6DA27E16E7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201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26C8B-D483-45B6-AE6B-0E1F487D0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A8FB1-DBB5-47B4-953D-71AA5E4F4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50036-62C2-48F6-A3DD-4E777E6B7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3C8D8-DE00-4A9F-B93D-83FD626A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2B73-A141-45CC-B441-55743267817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54C6-3AA0-4870-AE8C-C2016747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C6367-457C-446F-9096-B365503A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4BF9-938E-4E73-9E50-6DA27E16E7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71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AFD27-6BBB-4B5A-846F-330ACC5FA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FBEFA-14A2-4E07-8BD9-0F43F19A5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B3BBD-641F-45E1-92DF-F7DA2F844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2B73-A141-45CC-B441-55743267817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AB06A-DFFD-43C1-A46C-01F3804C0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32234-05BC-4E80-810E-37216B17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4BF9-938E-4E73-9E50-6DA27E16E7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70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EEBA35-92AF-4459-9B89-96DFD9A64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FB666-58ED-44E2-AE37-0EB70C0B5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BD881-252D-47EC-BD21-6D947FA23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2B73-A141-45CC-B441-55743267817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7B774-5B19-43CF-A09F-4083433EF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E4F13-3A9C-4BAC-9C49-48EE432A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4BF9-938E-4E73-9E50-6DA27E16E7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02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EBD2A3-F86A-4F6D-A1EB-DC851952E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5A202-746F-4DFF-BFA1-C9027A45B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5EA92-0722-4380-8CBC-1F71939B1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22B73-A141-45CC-B441-55743267817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247C5-C152-4E9C-834F-18C5E3C9A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B2044-8C52-4D9A-8E2D-237A24946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94BF9-938E-4E73-9E50-6DA27E16E7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16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8A93-6083-4DBD-9171-DBB6D8037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054" y="1294337"/>
            <a:ext cx="10419425" cy="2387600"/>
          </a:xfrm>
        </p:spPr>
        <p:txBody>
          <a:bodyPr anchor="ctr"/>
          <a:lstStyle/>
          <a:p>
            <a:r>
              <a:rPr lang="en-US" b="1" dirty="0"/>
              <a:t>Automated Report Generation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F1D5-8318-4248-B23E-53490BD09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979" y="3681937"/>
            <a:ext cx="9144000" cy="1655762"/>
          </a:xfrm>
        </p:spPr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Aptos Narrow"/>
              </a:rPr>
              <a:t>Development of a customized application to support team-specific reporting needs through automated report generation using Power Automate.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4661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4B5D9-63FE-4757-973C-DEC5492E8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949" y="177633"/>
            <a:ext cx="9754101" cy="650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1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320C24-C623-4055-A6B9-2DC797481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26" y="757304"/>
            <a:ext cx="11606991" cy="53433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761C63-A4EC-4CE1-8F05-3FC1031A5E71}"/>
              </a:ext>
            </a:extLst>
          </p:cNvPr>
          <p:cNvSpPr txBox="1"/>
          <p:nvPr/>
        </p:nvSpPr>
        <p:spPr>
          <a:xfrm>
            <a:off x="158226" y="387972"/>
            <a:ext cx="514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Workflow Process Map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80419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C25624-4DDF-40DF-8DE8-80AD3FBAF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208" y="1692185"/>
            <a:ext cx="8439584" cy="3473629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E0697B-0A72-4EFD-B478-35705B290425}"/>
              </a:ext>
            </a:extLst>
          </p:cNvPr>
          <p:cNvSpPr txBox="1"/>
          <p:nvPr/>
        </p:nvSpPr>
        <p:spPr>
          <a:xfrm>
            <a:off x="736847" y="1083075"/>
            <a:ext cx="514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Form filling Reminder</a:t>
            </a:r>
            <a:endParaRPr lang="en-GB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D27281-26CB-2F87-6314-6FC9E2CE829B}"/>
              </a:ext>
            </a:extLst>
          </p:cNvPr>
          <p:cNvSpPr txBox="1"/>
          <p:nvPr/>
        </p:nvSpPr>
        <p:spPr>
          <a:xfrm>
            <a:off x="529417" y="252103"/>
            <a:ext cx="20294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a typeface="Calibri"/>
                <a:cs typeface="Calibri"/>
              </a:rPr>
              <a:t>Test Result</a:t>
            </a:r>
          </a:p>
        </p:txBody>
      </p:sp>
    </p:spTree>
    <p:extLst>
      <p:ext uri="{BB962C8B-B14F-4D97-AF65-F5344CB8AC3E}">
        <p14:creationId xmlns:p14="http://schemas.microsoft.com/office/powerpoint/2010/main" val="3568574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E2670C-EF6B-40DD-88C2-CC2F7C816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507" y="1381019"/>
            <a:ext cx="8464985" cy="4095961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ED1CEA-DEFF-4561-A346-19AC8CB8D5EF}"/>
              </a:ext>
            </a:extLst>
          </p:cNvPr>
          <p:cNvSpPr txBox="1"/>
          <p:nvPr/>
        </p:nvSpPr>
        <p:spPr>
          <a:xfrm>
            <a:off x="721310" y="74305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User Task Completion Summary to Admin</a:t>
            </a:r>
            <a:endParaRPr lang="en-GB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D654D5-ADA8-F7AF-EB8A-E3079EDC7350}"/>
              </a:ext>
            </a:extLst>
          </p:cNvPr>
          <p:cNvSpPr txBox="1"/>
          <p:nvPr/>
        </p:nvSpPr>
        <p:spPr>
          <a:xfrm>
            <a:off x="413926" y="192852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0" u="none" strike="noStrike" baseline="0">
                <a:solidFill>
                  <a:srgbClr val="FF0000"/>
                </a:solidFill>
                <a:latin typeface="Calibri"/>
              </a:rPr>
              <a:t>Test Result</a:t>
            </a:r>
            <a:r>
              <a:rPr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58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3B4728-4791-4AEB-9E95-CBAB08249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631" y="1425472"/>
            <a:ext cx="8496737" cy="4007056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F604DC-381D-4187-8360-543E685D1F30}"/>
              </a:ext>
            </a:extLst>
          </p:cNvPr>
          <p:cNvSpPr txBox="1"/>
          <p:nvPr/>
        </p:nvSpPr>
        <p:spPr>
          <a:xfrm>
            <a:off x="721310" y="74305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Weekly Review for Admin</a:t>
            </a:r>
            <a:endParaRPr lang="en-GB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930853-824F-E175-B480-5313AD3B7DB0}"/>
              </a:ext>
            </a:extLst>
          </p:cNvPr>
          <p:cNvSpPr txBox="1"/>
          <p:nvPr/>
        </p:nvSpPr>
        <p:spPr>
          <a:xfrm>
            <a:off x="413926" y="277519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solidFill>
                  <a:srgbClr val="FF0000"/>
                </a:solidFill>
                <a:latin typeface="Calibri"/>
              </a:rPr>
              <a:t>Test Result</a:t>
            </a:r>
            <a:r>
              <a:rPr sz="1800">
                <a:latin typeface="Calibri"/>
                <a:ea typeface="Calibri"/>
                <a:cs typeface="Calibri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88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07558-F634-42BB-98AC-4AAAD40C1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033" y="1454313"/>
            <a:ext cx="8445934" cy="4464279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BFB7E8-0118-4090-A8D1-8D6B9CF68114}"/>
              </a:ext>
            </a:extLst>
          </p:cNvPr>
          <p:cNvSpPr txBox="1"/>
          <p:nvPr/>
        </p:nvSpPr>
        <p:spPr>
          <a:xfrm>
            <a:off x="721310" y="74305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Monthly Summary to Supervisor</a:t>
            </a:r>
            <a:endParaRPr lang="en-GB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B93160-B097-FFFE-72F1-6483629F2450}"/>
              </a:ext>
            </a:extLst>
          </p:cNvPr>
          <p:cNvSpPr txBox="1"/>
          <p:nvPr/>
        </p:nvSpPr>
        <p:spPr>
          <a:xfrm>
            <a:off x="385704" y="277519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solidFill>
                  <a:srgbClr val="FF0000"/>
                </a:solidFill>
                <a:latin typeface="Calibri"/>
              </a:rPr>
              <a:t>Test Result</a:t>
            </a:r>
            <a:r>
              <a:rPr sz="1800">
                <a:latin typeface="Calibri"/>
                <a:ea typeface="Calibri"/>
                <a:cs typeface="Calibri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63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1746A5-826E-4A08-AB2B-B3EC7CA91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763" y="1361466"/>
            <a:ext cx="8538473" cy="5200387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8673A2-B180-470E-A05C-2C0450465FAB}"/>
              </a:ext>
            </a:extLst>
          </p:cNvPr>
          <p:cNvSpPr/>
          <p:nvPr/>
        </p:nvSpPr>
        <p:spPr>
          <a:xfrm>
            <a:off x="7341833" y="4573255"/>
            <a:ext cx="3639846" cy="162335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B968E-E9E4-4750-B27C-4AB6C1C28C4C}"/>
              </a:ext>
            </a:extLst>
          </p:cNvPr>
          <p:cNvSpPr txBox="1"/>
          <p:nvPr/>
        </p:nvSpPr>
        <p:spPr>
          <a:xfrm>
            <a:off x="721310" y="743050"/>
            <a:ext cx="6957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Teams Pop-up to Admin on successful triggering mail to Supervisor</a:t>
            </a:r>
            <a:endParaRPr lang="en-GB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FE4F10-474D-B2C9-2655-6E86E5384B06}"/>
              </a:ext>
            </a:extLst>
          </p:cNvPr>
          <p:cNvSpPr txBox="1"/>
          <p:nvPr/>
        </p:nvSpPr>
        <p:spPr>
          <a:xfrm>
            <a:off x="272815" y="21166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solidFill>
                  <a:srgbClr val="FF0000"/>
                </a:solidFill>
                <a:latin typeface="Calibri"/>
              </a:rPr>
              <a:t>Test Result</a:t>
            </a:r>
            <a:r>
              <a:rPr sz="1800">
                <a:latin typeface="Calibri"/>
                <a:ea typeface="Calibri"/>
                <a:cs typeface="Calibri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09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78F78F-6943-4C81-AD9E-2034E0B50506}"/>
              </a:ext>
            </a:extLst>
          </p:cNvPr>
          <p:cNvSpPr txBox="1"/>
          <p:nvPr/>
        </p:nvSpPr>
        <p:spPr>
          <a:xfrm>
            <a:off x="355107" y="625876"/>
            <a:ext cx="105466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/>
            <a:r>
              <a:rPr lang="en-GB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Goals and Benefits</a:t>
            </a:r>
            <a:r>
              <a:rPr lang="en-GB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algn="just" rtl="0" fontAlgn="base"/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just" rtl="0" fontAlgn="base"/>
            <a:r>
              <a:rPr lang="en-GB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automation workflow achieves the following objectives: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5C80B-611F-40C6-9B12-39AA6DB9BD49}"/>
              </a:ext>
            </a:extLst>
          </p:cNvPr>
          <p:cNvSpPr txBox="1"/>
          <p:nvPr/>
        </p:nvSpPr>
        <p:spPr>
          <a:xfrm>
            <a:off x="355107" y="1975505"/>
            <a:ext cx="10658692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 fontAlgn="base">
              <a:buFont typeface="+mj-lt"/>
              <a:buAutoNum type="arabicPeriod"/>
            </a:pPr>
            <a:r>
              <a:rPr lang="en-GB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Dynamic Data Management: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fontAlgn="base"/>
            <a:r>
              <a:rPr lang="en-GB" sz="1800" b="0" i="0" dirty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&gt; </a:t>
            </a:r>
            <a:r>
              <a:rPr lang="en-GB" dirty="0">
                <a:solidFill>
                  <a:srgbClr val="000000"/>
                </a:solidFill>
                <a:latin typeface="Times New Roman"/>
                <a:cs typeface="Times New Roman"/>
              </a:rPr>
              <a:t>The workflow maintains data dynamically, similar to previous Excel-based approaches, without manual updates.</a:t>
            </a:r>
            <a:br>
              <a:rPr lang="en-GB" dirty="0">
                <a:latin typeface="Times New Roman" panose="02020603050405020304" pitchFamily="18" charset="0"/>
              </a:rPr>
            </a:br>
            <a:endParaRPr lang="en-GB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buFont typeface="+mj-lt"/>
              <a:buAutoNum type="arabicPeriod" startAt="2"/>
            </a:pPr>
            <a:r>
              <a:rPr lang="en-GB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Elimination of Sub sheet Maintenance: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GB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/>
            <a:r>
              <a:rPr lang="en-GB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&gt; No need to create multiple sub sheets based on dates. </a:t>
            </a:r>
            <a:endParaRPr lang="en-GB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GB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buFont typeface="+mj-lt"/>
              <a:buAutoNum type="arabicPeriod" startAt="3"/>
            </a:pPr>
            <a:r>
              <a:rPr lang="en-GB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Employee Changes Handled Automatically: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GB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/>
            <a:r>
              <a:rPr lang="en-GB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&gt; Addition or removal of employees is automatically handled; column headers do not need to be updated manually. </a:t>
            </a:r>
            <a:endParaRPr lang="en-GB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GB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buFont typeface="+mj-lt"/>
              <a:buAutoNum type="arabicPeriod" startAt="4"/>
            </a:pPr>
            <a:r>
              <a:rPr lang="en-GB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Automated Calculations: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GB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/>
            <a:r>
              <a:rPr lang="en-GB" sz="1800" b="0" i="0" dirty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&gt; Individual totals or summaries are calculated automatically; no separate manual calculation is required. 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GB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buFont typeface="+mj-lt"/>
              <a:buAutoNum type="arabicPeriod" startAt="5"/>
            </a:pPr>
            <a:r>
              <a:rPr lang="en-GB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Fully Autonomous Reporting: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GB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/>
            <a:r>
              <a:rPr lang="en-GB" sz="1800" b="0" i="0" dirty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&gt; Daily and monthly reports are generated automatically, eliminating the need to maintain separate report files. </a:t>
            </a:r>
          </a:p>
        </p:txBody>
      </p:sp>
    </p:spTree>
    <p:extLst>
      <p:ext uri="{BB962C8B-B14F-4D97-AF65-F5344CB8AC3E}">
        <p14:creationId xmlns:p14="http://schemas.microsoft.com/office/powerpoint/2010/main" val="3060689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174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Automated Report Generation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Goraksha</dc:creator>
  <cp:lastModifiedBy>Rahul Goraksha</cp:lastModifiedBy>
  <cp:revision>23</cp:revision>
  <dcterms:created xsi:type="dcterms:W3CDTF">2026-02-03T07:46:14Z</dcterms:created>
  <dcterms:modified xsi:type="dcterms:W3CDTF">2026-03-19T03:56:27Z</dcterms:modified>
</cp:coreProperties>
</file>