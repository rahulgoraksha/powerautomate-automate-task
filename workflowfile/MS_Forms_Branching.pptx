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79" r:id="rId1"/>
  </p:sldMasterIdLst>
  <p:notesMasterIdLst>
    <p:notesMasterId r:id="rId11"/>
  </p:notesMasterIdLst>
  <p:handoutMasterIdLst>
    <p:handoutMasterId r:id="rId12"/>
  </p:handout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w to Create Branching in Microsoft Forms" id="{88D4E7BA-2424-4C9B-8CBF-1587F0BE1BFE}">
          <p14:sldIdLst>
            <p14:sldId id="2561"/>
          </p14:sldIdLst>
        </p14:section>
        <p14:section name="Understanding and Implementing Branching in Microsoft Forms" id="{E058C255-E696-4B61-A498-46D6F0B99975}">
          <p14:sldIdLst>
            <p14:sldId id="2562"/>
            <p14:sldId id="2563"/>
            <p14:sldId id="2564"/>
            <p14:sldId id="2565"/>
            <p14:sldId id="2566"/>
            <p14:sldId id="2567"/>
            <p14:sldId id="2568"/>
            <p14:sldId id="25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BA2D32-3C3A-4691-8260-4A31587B1ACE}" v="10" dt="2026-03-19T04:02:56.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45"/>
    <p:restoredTop sz="94668"/>
  </p:normalViewPr>
  <p:slideViewPr>
    <p:cSldViewPr snapToGrid="0" showGuides="1">
      <p:cViewPr varScale="1">
        <p:scale>
          <a:sx n="96" d="100"/>
          <a:sy n="96" d="100"/>
        </p:scale>
        <p:origin x="540" y="276"/>
      </p:cViewPr>
      <p:guideLst>
        <p:guide orient="horz" pos="2160"/>
        <p:guide pos="3840"/>
      </p:guideLst>
    </p:cSldViewPr>
  </p:slideViewPr>
  <p:notesTextViewPr>
    <p:cViewPr>
      <p:scale>
        <a:sx n="1" d="1"/>
        <a:sy n="1" d="1"/>
      </p:scale>
      <p:origin x="0" y="0"/>
    </p:cViewPr>
  </p:notesTextViewPr>
  <p:sorterViewPr>
    <p:cViewPr>
      <p:scale>
        <a:sx n="120" d="100"/>
        <a:sy n="120" d="100"/>
      </p:scale>
      <p:origin x="0" y="0"/>
    </p:cViewPr>
  </p:sorter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3/18/2026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129127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Branching in Microsoft Forms, Accessing Branching Settings in Microsoft Forms, Setting Up Branching for Questions, Applying Branch Logic to Create a Personalized Flow, Practical Example of Branching in Use, Previewing and Testing Branching Logic, Finalizing, Saving, and Sharing the Branched Form</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4227168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Branching in Microsoft Forms is a powerful feature that allows form creators to build dynamic and interactive forms by controlling the flow of questions based on a respondent’s answers. Instead of presenting every user with the same fixed set of questions, branching enables a personalized experience where only relevant questions are shown. This is especially useful in scenarios such as surveys, training assessments, feedback forms, and application forms, where different respondents may need to answer different questions depending on their choices. For example, in a training feedback form, a user who selects that they attended a particular module can be directed to questions specific to that module, while others skip those questions entirely. This improves clarity, reduces respondent fatigue, and increases the accuracy of collected data. Branching also helps organizations maintain cleaner datasets by avoiding irrelevant or empty responses. In Microsoft Forms, branching is implemented visually, making it accessible even to users without technical or programming backgrounds. The feature works by assigning a “next step” for each answer option in a question, which could be another question or the end of the form. Understanding the purpose of branching is the first step before implementing it, as effective branching requires careful planning of the form structure, question order, and logical decision paths. When used correctly, branching transforms a simple form into a smart, responsive questionnaire that adapts to user input in real time. This introductory understanding sets the foundation for learning how to access, configure, test, and finalize branching logic in Microsoft Forms, which will be covered in the subsequent slides.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105616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begin using branching in Microsoft Forms, it is essential to know where and how to access the branching settings within the form interface. First, you need to create a new form or open an existing one from the Microsoft Forms dashboard. Once the form is open in edit mode, ensure that all the primary questions you want to include are already added, as branching works best when the overall structure of the form is visible. In the top-right corner of the form editor, you will find the three-dot menu labeled as “More options.” Clicking on this menu reveals several advanced features, one of which is “Branching.” Selecting the branching option switches the form into branching view, where you can see your questions laid out in sequence. In this view, each question displays dropdown controls that allow you to choose what happens next based on each possible answer. For choice-based questions, such as multiple-choice or dropdown questions, you can define a different branch for each answer option. For other question types, you can define a single next step. Understanding how to access this mode is critical, as all branching logic is configured from this interface. It is also important to note that branching is not available for every question type, so selecting appropriate question formats during form design is essential. Accessing branching settings correctly ensures you can move smoothly into configuring logic without disrupting the existing flow of your form.</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3211478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Once branching mode is enabled, the next step is setting up branching rules for individual questions. This process involves deciding where respondents should be directed after answering a particular question. In branching view, each question has an option labeled “Go to” or a similar dropdown that allows you to select the next destination. For choice-based questions, each answer option will have its own branching dropdown, enabling highly customized paths. You can choose to send respondents to the next question in sequence, jump to a specific question elsewhere in the form, or end the form altogether. This flexibility allows you to design both simple and complex decision trees. For example, if a respondent answers “No” to a qualifying question, you may want to skip several detailed questions and move them directly to a conclusion or submission page. While setting up branching, it is important to think logically about the respondent’s journey and ensure there are no dead ends or confusing loops. Microsoft Forms visually updates the flow as you assign branches, making it easier to understand the overall structure. Proper setup at this stage is crucial, as it directly impacts user experience, data quality, and the effectiveness of the form’s purpose. Careful configuration ensures that every respondent sees only the questions that are relevant to them.</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3485722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Applying branch logic effectively is what transforms a standard form into a personalized and intelligent experience. After setting individual branching rules, it is important to review how these rules work together across the entire form. Branch logic should follow a clear and intuitive path that aligns with the form’s objective. For instance, in a training registration form, an initial question might ask the user’s role, and based on their selection, they are directed to role-specific questions. This approach reduces unnecessary complexity for the respondent and keeps them engaged. When applying branch logic, consistency is key; similar answer types should lead to similar outcomes to avoid confusion. It is also advisable to limit overly complex branching in a single form, as too many conditional paths can make maintenance difficult. Microsoft Forms allows you to visually trace the flow, helping you confirm that all branches eventually lead to an appropriate endpoint. Applying thoughtful branch logic ensures that respondents feel guided rather than tested, which can significantly improve completion rates. This step is where planning and design come together, resulting in a smooth, logical, and user-friendly form flow.</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888080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practical example helps clarify how branching works in real-world scenarios. Consider a feedback form for a training program. The first question asks whether the respondent attended the training session. If the answer is “Yes,” the form branches to a set of detailed questions about content quality, trainer effectiveness, and learning outcomes. If the answer is “No,” the respondent is directed to a different question asking for the reason they did not attend, followed by the end of the form. This ensures that attendees and non-attendees are not presented with irrelevant questions. Another example could be an IT support request form, where users select the type of issue they are facing. Depending on whether they choose hardware, software, or access-related issues, the form branches to specific diagnostic questions. These examples show how branching improves efficiency for both respondents and administrators. It shortens completion time, increases response accuracy, and makes data analysis more meaningful. By applying branching thoughtfully, organizations can collect targeted information without overwhelming users, making the form more effective and professional.</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177564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After configuring branching rules, previewing and testing the form is a critical step that should never be skipped. Microsoft Forms provides a preview option that allows you to experience the form exactly as a respondent would, both on desktop and mobile views. During testing, you should select every possible answer path to ensure that each branch behaves as expected. This helps identify issues such as incorrect question jumps, skipped mandatory questions, or unintended form endings. Testing also allows you to verify that the wording of questions makes sense in context, especially when certain questions are only visible based on prior answers. It is good practice to ask a colleague to test the form as well, as a fresh perspective can uncover logic gaps you may have missed. Thorough testing ensures a smooth respondent experience and prevents data collection errors after the form is shared. This step acts as quality assurance, confirming that the branching logic supports the form’s goals without creating confusion or frustration.</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41390244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Once testing is complete and you are satisfied with the branching logic, the final step is to save and share the form. Microsoft Forms automatically saves changes, but it is still important to do a final review of the entire structure in branching view. Ensure that all paths lead to a logical conclusion and that the form aligns with its intended purpose. After finalization, you can use the Share option to distribute the form via a link, QR code, email invitation, or embed it in a webpage or Microsoft Teams channel. At this stage, consider permissions, such as whether the form should be accessible only within your organization or publicly. A well-designed branched form reflects professionalism and thoughtful planning. Finalizing and sharing marks the transition from design to real-world use, where respondents interact with the dynamic flow you have created. Proper completion of this step ensures that the form is ready for effective data collection and successful outcomes.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3565900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3/18/2026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3/18/2026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3/18/2026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3/18/2026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3/18/2026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3/18/2026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3/18/2026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3/18/2026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3/18/2026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3/18/2026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3/18/2026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3/18/2026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dirty="0"/>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dirty="0"/>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3/18/2026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dirty="0"/>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3/18/2026</a:t>
            </a:fld>
            <a:endParaRPr lang="en-US" dirty="0"/>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dirty="0"/>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dirty="0"/>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3/18/2026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dirty="0"/>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dirty="0"/>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3/18/2026</a:t>
            </a:fld>
            <a:endParaRPr lang="en-US" dirty="0"/>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dirty="0"/>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dirty="0"/>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dirty="0"/>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3/18/2026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3/18/2026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dirty="0"/>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dirty="0"/>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3/18/2026</a:t>
            </a:fld>
            <a:endParaRPr lang="en-US" dirty="0"/>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dirty="0"/>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3/18/2026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dirty="0"/>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dirty="0"/>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3/18/2026</a:t>
            </a:fld>
            <a:endParaRPr lang="en-US" dirty="0"/>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dirty="0"/>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3/18/2026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dirty="0"/>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3/18/2026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dirty="0"/>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dirty="0"/>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3/18/2026</a:t>
            </a:fld>
            <a:endParaRPr lang="en-US" dirty="0"/>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dirty="0"/>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3/18/2026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dirty="0"/>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3/18/2026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dirty="0"/>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3/18/2026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3/18/2026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3/18/2026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3/18/2026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dirty="0"/>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3/18/2026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3/18/2026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3/18/2026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3/18/2026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3/18/2026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3/18/2026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dirty="0"/>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3/18/2026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3/18/2026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3/18/2026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3/18/2026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3/18/2026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3/18/2026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dirty="0"/>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3/18/2026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3/18/2026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0F8C3-A3EF-E447-0BD0-36BD63F70522}"/>
              </a:ext>
            </a:extLst>
          </p:cNvPr>
          <p:cNvSpPr>
            <a:spLocks noGrp="1"/>
          </p:cNvSpPr>
          <p:nvPr>
            <p:ph type="ctrTitle"/>
          </p:nvPr>
        </p:nvSpPr>
        <p:spPr>
          <a:xfrm>
            <a:off x="457200" y="457200"/>
            <a:ext cx="3886198" cy="4513974"/>
          </a:xfrm>
        </p:spPr>
        <p:txBody>
          <a:bodyPr anchor="t">
            <a:normAutofit/>
          </a:bodyPr>
          <a:lstStyle/>
          <a:p>
            <a:r>
              <a:rPr lang="en-US"/>
              <a:t>How to Create Branching in Microsoft Forms</a:t>
            </a:r>
          </a:p>
        </p:txBody>
      </p:sp>
      <p:sp>
        <p:nvSpPr>
          <p:cNvPr id="3" name="Subtitle 2">
            <a:extLst>
              <a:ext uri="{FF2B5EF4-FFF2-40B4-BE49-F238E27FC236}">
                <a16:creationId xmlns:a16="http://schemas.microsoft.com/office/drawing/2014/main" id="{FE826580-E502-6039-8611-9C6D14254FDE}"/>
              </a:ext>
            </a:extLst>
          </p:cNvPr>
          <p:cNvSpPr>
            <a:spLocks noGrp="1"/>
          </p:cNvSpPr>
          <p:nvPr>
            <p:ph type="subTitle" idx="1"/>
          </p:nvPr>
        </p:nvSpPr>
        <p:spPr>
          <a:xfrm>
            <a:off x="457199" y="5425200"/>
            <a:ext cx="3886200" cy="975600"/>
          </a:xfrm>
        </p:spPr>
        <p:txBody>
          <a:bodyPr anchor="b">
            <a:normAutofit/>
          </a:bodyPr>
          <a:lstStyle/>
          <a:p>
            <a:pPr>
              <a:spcAft>
                <a:spcPts val="600"/>
              </a:spcAft>
            </a:pPr>
            <a:r>
              <a:rPr lang="en-US"/>
              <a:t>Step-by-step guide to setting customized form paths</a:t>
            </a:r>
          </a:p>
        </p:txBody>
      </p:sp>
      <p:pic>
        <p:nvPicPr>
          <p:cNvPr id="4" name="Picture 3" descr="A digital network connection">
            <a:extLst>
              <a:ext uri="{FF2B5EF4-FFF2-40B4-BE49-F238E27FC236}">
                <a16:creationId xmlns:a16="http://schemas.microsoft.com/office/drawing/2014/main" id="{5005BE3C-7357-40DD-8304-5D1ABDDFB82B}"/>
              </a:ext>
            </a:extLst>
          </p:cNvPr>
          <p:cNvPicPr>
            <a:picLocks noChangeAspect="1"/>
          </p:cNvPicPr>
          <p:nvPr/>
        </p:nvPicPr>
        <p:blipFill>
          <a:blip r:embed="rId3"/>
          <a:stretch>
            <a:fillRect/>
          </a:stretch>
        </p:blipFill>
        <p:spPr>
          <a:xfrm>
            <a:off x="4972203" y="457200"/>
            <a:ext cx="7033846" cy="5943600"/>
          </a:xfrm>
          <a:prstGeom prst="rect">
            <a:avLst/>
          </a:prstGeom>
        </p:spPr>
      </p:pic>
    </p:spTree>
    <p:extLst>
      <p:ext uri="{BB962C8B-B14F-4D97-AF65-F5344CB8AC3E}">
        <p14:creationId xmlns:p14="http://schemas.microsoft.com/office/powerpoint/2010/main" val="112546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2BD5-4472-E92D-BEFC-17BF581951C5}"/>
              </a:ext>
            </a:extLst>
          </p:cNvPr>
          <p:cNvSpPr>
            <a:spLocks noGrp="1"/>
          </p:cNvSpPr>
          <p:nvPr>
            <p:ph type="ctrTitle"/>
          </p:nvPr>
        </p:nvSpPr>
        <p:spPr>
          <a:xfrm>
            <a:off x="457199" y="457200"/>
            <a:ext cx="7845553" cy="6172200"/>
          </a:xfrm>
        </p:spPr>
        <p:txBody>
          <a:bodyPr anchor="b">
            <a:normAutofit/>
          </a:bodyPr>
          <a:lstStyle/>
          <a:p>
            <a:r>
              <a:rPr lang="en-US"/>
              <a:t>Understanding and Implementing Branching in Microsoft Forms</a:t>
            </a:r>
          </a:p>
        </p:txBody>
      </p:sp>
    </p:spTree>
    <p:extLst>
      <p:ext uri="{BB962C8B-B14F-4D97-AF65-F5344CB8AC3E}">
        <p14:creationId xmlns:p14="http://schemas.microsoft.com/office/powerpoint/2010/main" val="1636718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58EF5-8FAB-3B3B-3475-F5D68656A14B}"/>
              </a:ext>
            </a:extLst>
          </p:cNvPr>
          <p:cNvSpPr>
            <a:spLocks noGrp="1"/>
          </p:cNvSpPr>
          <p:nvPr>
            <p:ph type="title"/>
          </p:nvPr>
        </p:nvSpPr>
        <p:spPr>
          <a:xfrm>
            <a:off x="457200" y="457201"/>
            <a:ext cx="5029200" cy="1519083"/>
          </a:xfrm>
        </p:spPr>
        <p:txBody>
          <a:bodyPr anchor="t">
            <a:normAutofit/>
          </a:bodyPr>
          <a:lstStyle/>
          <a:p>
            <a:r>
              <a:rPr lang="en-US"/>
              <a:t>Introduction to Branching in Microsoft Forms</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8E5BC03F-CDA3-4F43-B745-EFF920F9D0F1}"/>
              </a:ext>
            </a:extLst>
          </p:cNvPr>
          <p:cNvPicPr>
            <a:picLocks noGrp="1" noChangeAspect="1"/>
          </p:cNvPicPr>
          <p:nvPr>
            <p:ph type="pic" sz="quarter" idx="13"/>
          </p:nvPr>
        </p:nvPicPr>
        <p:blipFill>
          <a:blip r:embed="rId3"/>
          <a:srcRect l="1601" r="15376" b="-2"/>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90780EFD-8E7C-F7F4-9A13-11AB519B445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Personalized Question Flow</a:t>
            </a:r>
          </a:p>
          <a:p>
            <a:pPr marL="0" lvl="1" indent="0">
              <a:spcAft>
                <a:spcPts val="600"/>
              </a:spcAft>
              <a:buFont typeface="Arial" panose="020B0604020202020204" pitchFamily="34" charset="0"/>
              <a:buNone/>
            </a:pPr>
            <a:r>
              <a:t>Branching customizes the form by showing questions relevant to respondents based on their previous answers.</a:t>
            </a:r>
            <a:endParaRPr lang="en-US"/>
          </a:p>
          <a:p>
            <a:pPr marL="0" indent="0">
              <a:spcBef>
                <a:spcPts val="2500"/>
              </a:spcBef>
              <a:spcAft>
                <a:spcPts val="600"/>
              </a:spcAft>
              <a:buFont typeface="Arial" panose="020B0604020202020204" pitchFamily="34" charset="0"/>
              <a:buNone/>
            </a:pPr>
            <a:r>
              <a:rPr lang="en-US" b="1"/>
              <a:t>Improved Data Accuracy</a:t>
            </a:r>
          </a:p>
          <a:p>
            <a:pPr marL="0" lvl="1" indent="0">
              <a:spcAft>
                <a:spcPts val="600"/>
              </a:spcAft>
              <a:buFont typeface="Arial" panose="020B0604020202020204" pitchFamily="34" charset="0"/>
              <a:buNone/>
            </a:pPr>
            <a:r>
              <a:t>Branching reduces irrelevant responses, enhancing data clarity and minimizing respondent fatigue.</a:t>
            </a:r>
            <a:endParaRPr lang="en-US"/>
          </a:p>
          <a:p>
            <a:pPr marL="0" indent="0">
              <a:spcBef>
                <a:spcPts val="2500"/>
              </a:spcBef>
              <a:spcAft>
                <a:spcPts val="600"/>
              </a:spcAft>
              <a:buFont typeface="Arial" panose="020B0604020202020204" pitchFamily="34" charset="0"/>
              <a:buNone/>
            </a:pPr>
            <a:r>
              <a:rPr lang="en-US" b="1"/>
              <a:t>Visual Implementation</a:t>
            </a:r>
          </a:p>
          <a:p>
            <a:pPr marL="0" lvl="1" indent="0">
              <a:spcAft>
                <a:spcPts val="600"/>
              </a:spcAft>
              <a:buFont typeface="Arial" panose="020B0604020202020204" pitchFamily="34" charset="0"/>
              <a:buNone/>
            </a:pPr>
            <a:r>
              <a:t>Branching is designed visually in Microsoft Forms, allowing easy setup without programming skills.</a:t>
            </a:r>
            <a:endParaRPr lang="en-US"/>
          </a:p>
          <a:p>
            <a:pPr marL="0" indent="0">
              <a:spcBef>
                <a:spcPts val="2500"/>
              </a:spcBef>
              <a:spcAft>
                <a:spcPts val="600"/>
              </a:spcAft>
              <a:buFont typeface="Arial" panose="020B0604020202020204" pitchFamily="34" charset="0"/>
              <a:buNone/>
            </a:pPr>
            <a:r>
              <a:rPr lang="en-US" b="1"/>
              <a:t>Strategic Planning Required</a:t>
            </a:r>
          </a:p>
          <a:p>
            <a:pPr marL="0" lvl="1" indent="0">
              <a:spcAft>
                <a:spcPts val="600"/>
              </a:spcAft>
              <a:buFont typeface="Arial" panose="020B0604020202020204" pitchFamily="34" charset="0"/>
              <a:buNone/>
            </a:pPr>
            <a:r>
              <a:t>Effective branching demands careful planning of form structure and logical decision-making paths.</a:t>
            </a:r>
            <a:endParaRPr lang="en-US"/>
          </a:p>
        </p:txBody>
      </p:sp>
    </p:spTree>
    <p:extLst>
      <p:ext uri="{BB962C8B-B14F-4D97-AF65-F5344CB8AC3E}">
        <p14:creationId xmlns:p14="http://schemas.microsoft.com/office/powerpoint/2010/main" val="11807643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D68C2-7E76-09C1-2FD4-DD40F1A4A3E2}"/>
              </a:ext>
            </a:extLst>
          </p:cNvPr>
          <p:cNvSpPr>
            <a:spLocks noGrp="1"/>
          </p:cNvSpPr>
          <p:nvPr>
            <p:ph type="title"/>
          </p:nvPr>
        </p:nvSpPr>
        <p:spPr>
          <a:xfrm>
            <a:off x="4480561" y="457200"/>
            <a:ext cx="7254240" cy="1173708"/>
          </a:xfrm>
        </p:spPr>
        <p:txBody>
          <a:bodyPr anchor="b">
            <a:normAutofit/>
          </a:bodyPr>
          <a:lstStyle/>
          <a:p>
            <a:r>
              <a:rPr lang="en-US"/>
              <a:t>Accessing Branching Settings in Microsoft Forms</a:t>
            </a:r>
          </a:p>
        </p:txBody>
      </p:sp>
      <p:pic>
        <p:nvPicPr>
          <p:cNvPr id="5" name="Content Placeholder 4" descr="Login web form">
            <a:extLst>
              <a:ext uri="{FF2B5EF4-FFF2-40B4-BE49-F238E27FC236}">
                <a16:creationId xmlns:a16="http://schemas.microsoft.com/office/drawing/2014/main" id="{75871852-97CB-4029-AB8F-2FAACCDCF1E1}"/>
              </a:ext>
            </a:extLst>
          </p:cNvPr>
          <p:cNvPicPr>
            <a:picLocks noGrp="1" noChangeAspect="1"/>
          </p:cNvPicPr>
          <p:nvPr>
            <p:ph type="pic" sz="quarter" idx="13"/>
          </p:nvPr>
        </p:nvPicPr>
        <p:blipFill>
          <a:blip r:embed="rId3"/>
          <a:srcRect l="28936" r="23680" b="-1"/>
          <a:stretch>
            <a:fillRect/>
          </a:stretch>
        </p:blipFill>
        <p:spPr>
          <a:xfrm>
            <a:off x="20" y="457199"/>
            <a:ext cx="4023340" cy="5943601"/>
          </a:xfrm>
        </p:spPr>
      </p:pic>
      <p:sp>
        <p:nvSpPr>
          <p:cNvPr id="4" name="Content Placeholder 3">
            <a:extLst>
              <a:ext uri="{FF2B5EF4-FFF2-40B4-BE49-F238E27FC236}">
                <a16:creationId xmlns:a16="http://schemas.microsoft.com/office/drawing/2014/main" id="{E98CC858-FC7C-6447-A331-920741C7AB7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2088108"/>
            <a:ext cx="7254240" cy="4312692"/>
          </a:xfrm>
        </p:spPr>
        <p:txBody>
          <a:bodyPr>
            <a:normAutofit/>
          </a:bodyPr>
          <a:lstStyle/>
          <a:p>
            <a:pPr marL="0" indent="0">
              <a:spcBef>
                <a:spcPts val="2500"/>
              </a:spcBef>
              <a:spcAft>
                <a:spcPts val="600"/>
              </a:spcAft>
              <a:buFont typeface="Arial" panose="020B0604020202020204" pitchFamily="34" charset="0"/>
              <a:buNone/>
            </a:pPr>
            <a:r>
              <a:rPr lang="en-US" b="1"/>
              <a:t>Opening Form Editor</a:t>
            </a:r>
          </a:p>
          <a:p>
            <a:pPr marL="0" lvl="1" indent="0">
              <a:spcAft>
                <a:spcPts val="600"/>
              </a:spcAft>
              <a:buFont typeface="Arial" panose="020B0604020202020204" pitchFamily="34" charset="0"/>
              <a:buNone/>
            </a:pPr>
            <a:r>
              <a:t>Start by creating or opening a form in Microsoft Forms dashboard to access editing features.</a:t>
            </a:r>
            <a:endParaRPr lang="en-US"/>
          </a:p>
          <a:p>
            <a:pPr marL="0" indent="0">
              <a:spcBef>
                <a:spcPts val="2500"/>
              </a:spcBef>
              <a:spcAft>
                <a:spcPts val="600"/>
              </a:spcAft>
              <a:buFont typeface="Arial" panose="020B0604020202020204" pitchFamily="34" charset="0"/>
              <a:buNone/>
            </a:pPr>
            <a:r>
              <a:rPr lang="en-US" b="1"/>
              <a:t>Locating Branching Option</a:t>
            </a:r>
          </a:p>
          <a:p>
            <a:pPr marL="0" lvl="1" indent="0">
              <a:spcAft>
                <a:spcPts val="600"/>
              </a:spcAft>
              <a:buFont typeface="Arial" panose="020B0604020202020204" pitchFamily="34" charset="0"/>
              <a:buNone/>
            </a:pPr>
            <a:r>
              <a:t>Click the three-dot 'More options' menu in the top-right corner to find the branching setting.</a:t>
            </a:r>
            <a:endParaRPr lang="en-US"/>
          </a:p>
          <a:p>
            <a:pPr marL="0" indent="0">
              <a:spcBef>
                <a:spcPts val="2500"/>
              </a:spcBef>
              <a:spcAft>
                <a:spcPts val="600"/>
              </a:spcAft>
              <a:buFont typeface="Arial" panose="020B0604020202020204" pitchFamily="34" charset="0"/>
              <a:buNone/>
            </a:pPr>
            <a:r>
              <a:rPr lang="en-US" b="1"/>
              <a:t>Using Branching View</a:t>
            </a:r>
          </a:p>
          <a:p>
            <a:pPr marL="0" lvl="1" indent="0">
              <a:spcAft>
                <a:spcPts val="600"/>
              </a:spcAft>
              <a:buFont typeface="Arial" panose="020B0604020202020204" pitchFamily="34" charset="0"/>
              <a:buNone/>
            </a:pPr>
            <a:r>
              <a:t>Branching view displays questions sequentially with dropdown controls to set navigation based on answers.</a:t>
            </a:r>
            <a:endParaRPr lang="en-US"/>
          </a:p>
          <a:p>
            <a:pPr marL="0" indent="0">
              <a:spcBef>
                <a:spcPts val="2500"/>
              </a:spcBef>
              <a:spcAft>
                <a:spcPts val="600"/>
              </a:spcAft>
              <a:buFont typeface="Arial" panose="020B0604020202020204" pitchFamily="34" charset="0"/>
              <a:buNone/>
            </a:pPr>
            <a:r>
              <a:rPr lang="en-US" b="1"/>
              <a:t>Question Type Considerations</a:t>
            </a:r>
          </a:p>
          <a:p>
            <a:pPr marL="0" lvl="1" indent="0">
              <a:spcAft>
                <a:spcPts val="600"/>
              </a:spcAft>
              <a:buFont typeface="Arial" panose="020B0604020202020204" pitchFamily="34" charset="0"/>
              <a:buNone/>
            </a:pPr>
            <a:r>
              <a:t>Branching is supported mainly for choice-based questions; select question types accordingly.</a:t>
            </a:r>
            <a:endParaRPr lang="en-US"/>
          </a:p>
        </p:txBody>
      </p:sp>
    </p:spTree>
    <p:extLst>
      <p:ext uri="{BB962C8B-B14F-4D97-AF65-F5344CB8AC3E}">
        <p14:creationId xmlns:p14="http://schemas.microsoft.com/office/powerpoint/2010/main" val="28592427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6B4B5-C136-690F-4440-38DB9F552163}"/>
              </a:ext>
            </a:extLst>
          </p:cNvPr>
          <p:cNvSpPr>
            <a:spLocks noGrp="1"/>
          </p:cNvSpPr>
          <p:nvPr>
            <p:ph type="title"/>
          </p:nvPr>
        </p:nvSpPr>
        <p:spPr>
          <a:xfrm>
            <a:off x="457200" y="457201"/>
            <a:ext cx="5029200" cy="1519083"/>
          </a:xfrm>
        </p:spPr>
        <p:txBody>
          <a:bodyPr anchor="t">
            <a:normAutofit/>
          </a:bodyPr>
          <a:lstStyle/>
          <a:p>
            <a:r>
              <a:rPr lang="en-US"/>
              <a:t>Setting Up Branching for Questions</a:t>
            </a:r>
          </a:p>
        </p:txBody>
      </p:sp>
      <p:pic>
        <p:nvPicPr>
          <p:cNvPr id="5" name="Content Placeholder 4" descr="Layout of website design sketches on white paper">
            <a:extLst>
              <a:ext uri="{FF2B5EF4-FFF2-40B4-BE49-F238E27FC236}">
                <a16:creationId xmlns:a16="http://schemas.microsoft.com/office/drawing/2014/main" id="{6C59BFAD-29D7-4C10-995A-21F42B8567CA}"/>
              </a:ext>
            </a:extLst>
          </p:cNvPr>
          <p:cNvPicPr>
            <a:picLocks noGrp="1" noChangeAspect="1"/>
          </p:cNvPicPr>
          <p:nvPr>
            <p:ph type="pic" sz="quarter" idx="13"/>
          </p:nvPr>
        </p:nvPicPr>
        <p:blipFill>
          <a:blip r:embed="rId3"/>
          <a:srcRect l="5054" r="29648" b="1"/>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657F92BC-BA1D-60EB-B182-BAF644DD46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Branching Rule Setup</a:t>
            </a:r>
          </a:p>
          <a:p>
            <a:pPr marL="0" lvl="1" indent="0">
              <a:spcAft>
                <a:spcPts val="600"/>
              </a:spcAft>
              <a:buFont typeface="Arial" panose="020B0604020202020204" pitchFamily="34" charset="0"/>
              <a:buNone/>
            </a:pPr>
            <a:r>
              <a:t>Set up branching rules by selecting destinations for respondents after answering each question using dropdown menus.</a:t>
            </a:r>
            <a:endParaRPr lang="en-US"/>
          </a:p>
          <a:p>
            <a:pPr marL="0" indent="0">
              <a:spcBef>
                <a:spcPts val="2500"/>
              </a:spcBef>
              <a:spcAft>
                <a:spcPts val="600"/>
              </a:spcAft>
              <a:buFont typeface="Arial" panose="020B0604020202020204" pitchFamily="34" charset="0"/>
              <a:buNone/>
            </a:pPr>
            <a:r>
              <a:rPr lang="en-US" b="1"/>
              <a:t>Customizable Decision Paths</a:t>
            </a:r>
          </a:p>
          <a:p>
            <a:pPr marL="0" lvl="1" indent="0">
              <a:spcAft>
                <a:spcPts val="600"/>
              </a:spcAft>
              <a:buFont typeface="Arial" panose="020B0604020202020204" pitchFamily="34" charset="0"/>
              <a:buNone/>
            </a:pPr>
            <a:r>
              <a:t>Each answer option can lead to different questions, allowing creation of simple or complex decision trees.</a:t>
            </a:r>
            <a:endParaRPr lang="en-US"/>
          </a:p>
          <a:p>
            <a:pPr marL="0" indent="0">
              <a:spcBef>
                <a:spcPts val="2500"/>
              </a:spcBef>
              <a:spcAft>
                <a:spcPts val="600"/>
              </a:spcAft>
              <a:buFont typeface="Arial" panose="020B0604020202020204" pitchFamily="34" charset="0"/>
              <a:buNone/>
            </a:pPr>
            <a:r>
              <a:rPr lang="en-US" b="1"/>
              <a:t>Logical Flow Importance</a:t>
            </a:r>
          </a:p>
          <a:p>
            <a:pPr marL="0" lvl="1" indent="0">
              <a:spcAft>
                <a:spcPts val="600"/>
              </a:spcAft>
              <a:buFont typeface="Arial" panose="020B0604020202020204" pitchFamily="34" charset="0"/>
              <a:buNone/>
            </a:pPr>
            <a:r>
              <a:t>Ensure logical respondent flow to avoid dead ends or confusing loops and enhance user experience.</a:t>
            </a:r>
            <a:endParaRPr lang="en-US"/>
          </a:p>
          <a:p>
            <a:pPr marL="0" indent="0">
              <a:spcBef>
                <a:spcPts val="2500"/>
              </a:spcBef>
              <a:spcAft>
                <a:spcPts val="600"/>
              </a:spcAft>
              <a:buFont typeface="Arial" panose="020B0604020202020204" pitchFamily="34" charset="0"/>
              <a:buNone/>
            </a:pPr>
            <a:r>
              <a:rPr lang="en-US" b="1"/>
              <a:t>Visual Flow Updates</a:t>
            </a:r>
          </a:p>
          <a:p>
            <a:pPr marL="0" lvl="1" indent="0">
              <a:spcAft>
                <a:spcPts val="600"/>
              </a:spcAft>
              <a:buFont typeface="Arial" panose="020B0604020202020204" pitchFamily="34" charset="0"/>
              <a:buNone/>
            </a:pPr>
            <a:r>
              <a:t>Visual updates in the interface reflect branching changes, helping to understand the overall question structure.</a:t>
            </a:r>
            <a:endParaRPr lang="en-US"/>
          </a:p>
        </p:txBody>
      </p:sp>
    </p:spTree>
    <p:extLst>
      <p:ext uri="{BB962C8B-B14F-4D97-AF65-F5344CB8AC3E}">
        <p14:creationId xmlns:p14="http://schemas.microsoft.com/office/powerpoint/2010/main" val="5126471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22AD2-E0E4-ABBA-74E4-CA808F465141}"/>
              </a:ext>
            </a:extLst>
          </p:cNvPr>
          <p:cNvSpPr>
            <a:spLocks noGrp="1"/>
          </p:cNvSpPr>
          <p:nvPr>
            <p:ph type="title"/>
          </p:nvPr>
        </p:nvSpPr>
        <p:spPr>
          <a:xfrm>
            <a:off x="457200" y="457201"/>
            <a:ext cx="5029200" cy="1519083"/>
          </a:xfrm>
        </p:spPr>
        <p:txBody>
          <a:bodyPr anchor="t">
            <a:normAutofit/>
          </a:bodyPr>
          <a:lstStyle/>
          <a:p>
            <a:r>
              <a:rPr lang="en-US"/>
              <a:t>Applying Branch Logic to Create a Personalized Flow</a:t>
            </a:r>
          </a:p>
        </p:txBody>
      </p:sp>
      <p:pic>
        <p:nvPicPr>
          <p:cNvPr id="5" name="Content Placeholder 4" descr="Pins pinned on a white surface and connecting a black thread">
            <a:extLst>
              <a:ext uri="{FF2B5EF4-FFF2-40B4-BE49-F238E27FC236}">
                <a16:creationId xmlns:a16="http://schemas.microsoft.com/office/drawing/2014/main" id="{AB3F5EAE-FE2F-41A8-A658-51540DEC1299}"/>
              </a:ext>
            </a:extLst>
          </p:cNvPr>
          <p:cNvPicPr>
            <a:picLocks noGrp="1" noChangeAspect="1"/>
          </p:cNvPicPr>
          <p:nvPr>
            <p:ph type="pic" sz="quarter" idx="13"/>
          </p:nvPr>
        </p:nvPicPr>
        <p:blipFill>
          <a:blip r:embed="rId3"/>
          <a:srcRect r="16977" b="-2"/>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73C8112D-44C7-A681-BBCC-567E4744C4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Transforming Forms with Branch Logic</a:t>
            </a:r>
          </a:p>
          <a:p>
            <a:pPr marL="0" lvl="1" indent="0">
              <a:spcAft>
                <a:spcPts val="600"/>
              </a:spcAft>
              <a:buFont typeface="Arial" panose="020B0604020202020204" pitchFamily="34" charset="0"/>
              <a:buNone/>
            </a:pPr>
            <a:r>
              <a:t>Branch logic personalizes forms by guiding users based on their specific answers, enhancing engagement.</a:t>
            </a:r>
            <a:endParaRPr lang="en-US"/>
          </a:p>
          <a:p>
            <a:pPr marL="0" indent="0">
              <a:spcBef>
                <a:spcPts val="2500"/>
              </a:spcBef>
              <a:spcAft>
                <a:spcPts val="600"/>
              </a:spcAft>
              <a:buFont typeface="Arial" panose="020B0604020202020204" pitchFamily="34" charset="0"/>
              <a:buNone/>
            </a:pPr>
            <a:r>
              <a:rPr lang="en-US" b="1"/>
              <a:t>Consistency and Clarity</a:t>
            </a:r>
          </a:p>
          <a:p>
            <a:pPr marL="0" lvl="1" indent="0">
              <a:spcAft>
                <a:spcPts val="600"/>
              </a:spcAft>
              <a:buFont typeface="Arial" panose="020B0604020202020204" pitchFamily="34" charset="0"/>
              <a:buNone/>
            </a:pPr>
            <a:r>
              <a:t>Consistent branching ensures similar responses lead to similar outcomes, reducing user confusion.</a:t>
            </a:r>
            <a:endParaRPr lang="en-US"/>
          </a:p>
          <a:p>
            <a:pPr marL="0" indent="0">
              <a:spcBef>
                <a:spcPts val="2500"/>
              </a:spcBef>
              <a:spcAft>
                <a:spcPts val="600"/>
              </a:spcAft>
              <a:buFont typeface="Arial" panose="020B0604020202020204" pitchFamily="34" charset="0"/>
              <a:buNone/>
            </a:pPr>
            <a:r>
              <a:rPr lang="en-US" b="1"/>
              <a:t>Visual Flow Review</a:t>
            </a:r>
          </a:p>
          <a:p>
            <a:pPr marL="0" lvl="1" indent="0">
              <a:spcAft>
                <a:spcPts val="600"/>
              </a:spcAft>
              <a:buFont typeface="Arial" panose="020B0604020202020204" pitchFamily="34" charset="0"/>
              <a:buNone/>
            </a:pPr>
            <a:r>
              <a:t>Visual tools help trace branches to confirm all paths lead to appropriate endpoints.</a:t>
            </a:r>
            <a:endParaRPr lang="en-US"/>
          </a:p>
          <a:p>
            <a:pPr marL="0" indent="0">
              <a:spcBef>
                <a:spcPts val="2500"/>
              </a:spcBef>
              <a:spcAft>
                <a:spcPts val="600"/>
              </a:spcAft>
              <a:buFont typeface="Arial" panose="020B0604020202020204" pitchFamily="34" charset="0"/>
              <a:buNone/>
            </a:pPr>
            <a:r>
              <a:rPr lang="en-US" b="1"/>
              <a:t>Improved User Experience</a:t>
            </a:r>
          </a:p>
          <a:p>
            <a:pPr marL="0" lvl="1" indent="0">
              <a:spcAft>
                <a:spcPts val="600"/>
              </a:spcAft>
              <a:buFont typeface="Arial" panose="020B0604020202020204" pitchFamily="34" charset="0"/>
              <a:buNone/>
            </a:pPr>
            <a:r>
              <a:t>Thoughtful branch logic guides respondents smoothly, improving completion rates and satisfaction.</a:t>
            </a:r>
            <a:endParaRPr lang="en-US"/>
          </a:p>
        </p:txBody>
      </p:sp>
    </p:spTree>
    <p:extLst>
      <p:ext uri="{BB962C8B-B14F-4D97-AF65-F5344CB8AC3E}">
        <p14:creationId xmlns:p14="http://schemas.microsoft.com/office/powerpoint/2010/main" val="10833991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070E-92A6-59D5-C403-6D88EA00A984}"/>
              </a:ext>
            </a:extLst>
          </p:cNvPr>
          <p:cNvSpPr>
            <a:spLocks noGrp="1"/>
          </p:cNvSpPr>
          <p:nvPr>
            <p:ph type="title"/>
          </p:nvPr>
        </p:nvSpPr>
        <p:spPr>
          <a:xfrm>
            <a:off x="6999060" y="457200"/>
            <a:ext cx="4735740" cy="1306009"/>
          </a:xfrm>
        </p:spPr>
        <p:txBody>
          <a:bodyPr anchor="b">
            <a:normAutofit/>
          </a:bodyPr>
          <a:lstStyle/>
          <a:p>
            <a:r>
              <a:rPr lang="en-US"/>
              <a:t>Practical Example of Branching in Use</a:t>
            </a:r>
          </a:p>
        </p:txBody>
      </p:sp>
      <p:pic>
        <p:nvPicPr>
          <p:cNvPr id="5" name="Content Placeholder 4" descr="Female drawing flow chart">
            <a:extLst>
              <a:ext uri="{FF2B5EF4-FFF2-40B4-BE49-F238E27FC236}">
                <a16:creationId xmlns:a16="http://schemas.microsoft.com/office/drawing/2014/main" id="{DEB4C064-E9F0-4941-BA72-A7818A170472}"/>
              </a:ext>
            </a:extLst>
          </p:cNvPr>
          <p:cNvPicPr>
            <a:picLocks noGrp="1" noChangeAspect="1"/>
          </p:cNvPicPr>
          <p:nvPr>
            <p:ph type="pic" sz="quarter" idx="13"/>
          </p:nvPr>
        </p:nvPicPr>
        <p:blipFill>
          <a:blip r:embed="rId3"/>
          <a:srcRect l="12046" r="16407" b="-2"/>
          <a:stretch>
            <a:fillRect/>
          </a:stretch>
        </p:blipFill>
        <p:spPr>
          <a:xfrm>
            <a:off x="1" y="457200"/>
            <a:ext cx="6492240" cy="5943600"/>
          </a:xfrm>
        </p:spPr>
      </p:pic>
      <p:sp>
        <p:nvSpPr>
          <p:cNvPr id="4" name="Content Placeholder 3">
            <a:extLst>
              <a:ext uri="{FF2B5EF4-FFF2-40B4-BE49-F238E27FC236}">
                <a16:creationId xmlns:a16="http://schemas.microsoft.com/office/drawing/2014/main" id="{AEC31E9E-7745-5610-FF6D-9D062923621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99060" y="2209800"/>
            <a:ext cx="4735740" cy="4191000"/>
          </a:xfrm>
        </p:spPr>
        <p:txBody>
          <a:bodyPr>
            <a:normAutofit/>
          </a:bodyPr>
          <a:lstStyle/>
          <a:p>
            <a:pPr marL="0" indent="0">
              <a:spcBef>
                <a:spcPts val="2500"/>
              </a:spcBef>
              <a:spcAft>
                <a:spcPts val="600"/>
              </a:spcAft>
              <a:buFont typeface="Arial" panose="020B0604020202020204" pitchFamily="34" charset="0"/>
              <a:buNone/>
            </a:pPr>
            <a:r>
              <a:rPr lang="en-US" b="1"/>
              <a:t>Branching in Feedback Forms</a:t>
            </a:r>
          </a:p>
          <a:p>
            <a:pPr marL="0" lvl="1" indent="0">
              <a:spcAft>
                <a:spcPts val="600"/>
              </a:spcAft>
              <a:buFont typeface="Arial" panose="020B0604020202020204" pitchFamily="34" charset="0"/>
              <a:buNone/>
            </a:pPr>
            <a:r>
              <a:t>Branching directs respondents to relevant questions based on their attendance, improving form relevance and user experience.</a:t>
            </a:r>
            <a:endParaRPr lang="en-US"/>
          </a:p>
          <a:p>
            <a:pPr marL="0" indent="0">
              <a:spcBef>
                <a:spcPts val="2500"/>
              </a:spcBef>
              <a:spcAft>
                <a:spcPts val="600"/>
              </a:spcAft>
              <a:buFont typeface="Arial" panose="020B0604020202020204" pitchFamily="34" charset="0"/>
              <a:buNone/>
            </a:pPr>
            <a:r>
              <a:rPr lang="en-US" b="1"/>
              <a:t>Branching in IT Support Requests</a:t>
            </a:r>
          </a:p>
          <a:p>
            <a:pPr marL="0" lvl="1" indent="0">
              <a:spcAft>
                <a:spcPts val="600"/>
              </a:spcAft>
              <a:buFont typeface="Arial" panose="020B0604020202020204" pitchFamily="34" charset="0"/>
              <a:buNone/>
            </a:pPr>
            <a:r>
              <a:t>Branching guides users to specific diagnostic questions based on issue type, enhancing problem resolution efficiency.</a:t>
            </a:r>
            <a:endParaRPr lang="en-US"/>
          </a:p>
          <a:p>
            <a:pPr marL="0" indent="0">
              <a:spcBef>
                <a:spcPts val="2500"/>
              </a:spcBef>
              <a:spcAft>
                <a:spcPts val="600"/>
              </a:spcAft>
              <a:buFont typeface="Arial" panose="020B0604020202020204" pitchFamily="34" charset="0"/>
              <a:buNone/>
            </a:pPr>
            <a:r>
              <a:rPr lang="en-US" b="1"/>
              <a:t>Benefits of Branching</a:t>
            </a:r>
          </a:p>
          <a:p>
            <a:pPr marL="0" lvl="1" indent="0">
              <a:spcAft>
                <a:spcPts val="600"/>
              </a:spcAft>
              <a:buFont typeface="Arial" panose="020B0604020202020204" pitchFamily="34" charset="0"/>
              <a:buNone/>
            </a:pPr>
            <a:r>
              <a:t>Branching shortens completion time, increases accuracy, and helps collect targeted, meaningful data.</a:t>
            </a:r>
            <a:endParaRPr lang="en-US"/>
          </a:p>
        </p:txBody>
      </p:sp>
    </p:spTree>
    <p:extLst>
      <p:ext uri="{BB962C8B-B14F-4D97-AF65-F5344CB8AC3E}">
        <p14:creationId xmlns:p14="http://schemas.microsoft.com/office/powerpoint/2010/main" val="31921755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97DB3-0CD1-2514-EE0C-C41AC2325AB8}"/>
              </a:ext>
            </a:extLst>
          </p:cNvPr>
          <p:cNvSpPr>
            <a:spLocks noGrp="1"/>
          </p:cNvSpPr>
          <p:nvPr>
            <p:ph type="title"/>
          </p:nvPr>
        </p:nvSpPr>
        <p:spPr>
          <a:xfrm>
            <a:off x="457201" y="457199"/>
            <a:ext cx="7254239" cy="1173712"/>
          </a:xfrm>
        </p:spPr>
        <p:txBody>
          <a:bodyPr anchor="b">
            <a:normAutofit/>
          </a:bodyPr>
          <a:lstStyle/>
          <a:p>
            <a:r>
              <a:rPr lang="en-US"/>
              <a:t>Previewing and Testing Branching Logic</a:t>
            </a:r>
          </a:p>
        </p:txBody>
      </p:sp>
      <p:sp>
        <p:nvSpPr>
          <p:cNvPr id="4" name="Content Placeholder 3">
            <a:extLst>
              <a:ext uri="{FF2B5EF4-FFF2-40B4-BE49-F238E27FC236}">
                <a16:creationId xmlns:a16="http://schemas.microsoft.com/office/drawing/2014/main" id="{75F03862-31D8-8E92-517E-4F5012337CC6}"/>
              </a:ext>
            </a:extLst>
          </p:cNvPr>
          <p:cNvSpPr>
            <a:spLocks noGrp="1"/>
          </p:cNvSpPr>
          <p:nvPr>
            <p:ph sz="quarter" idx="18"/>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1" y="2088108"/>
            <a:ext cx="7254240" cy="4312692"/>
          </a:xfrm>
        </p:spPr>
        <p:txBody>
          <a:bodyPr>
            <a:normAutofit/>
          </a:bodyPr>
          <a:lstStyle/>
          <a:p>
            <a:pPr marL="0" indent="0">
              <a:spcBef>
                <a:spcPts val="2500"/>
              </a:spcBef>
              <a:spcAft>
                <a:spcPts val="600"/>
              </a:spcAft>
              <a:buFont typeface="Arial" panose="020B0604020202020204" pitchFamily="34" charset="0"/>
              <a:buNone/>
            </a:pPr>
            <a:r>
              <a:rPr lang="en-US" b="1"/>
              <a:t>Previewing the Form</a:t>
            </a:r>
          </a:p>
          <a:p>
            <a:pPr marL="0" lvl="1" indent="0">
              <a:spcAft>
                <a:spcPts val="600"/>
              </a:spcAft>
              <a:buFont typeface="Arial" panose="020B0604020202020204" pitchFamily="34" charset="0"/>
              <a:buNone/>
            </a:pPr>
            <a:r>
              <a:t>Use the preview option to see the form as a respondent on desktop and mobile devices.</a:t>
            </a:r>
            <a:endParaRPr lang="en-US"/>
          </a:p>
          <a:p>
            <a:pPr marL="0" indent="0">
              <a:spcBef>
                <a:spcPts val="2500"/>
              </a:spcBef>
              <a:spcAft>
                <a:spcPts val="600"/>
              </a:spcAft>
              <a:buFont typeface="Arial" panose="020B0604020202020204" pitchFamily="34" charset="0"/>
              <a:buNone/>
            </a:pPr>
            <a:r>
              <a:rPr lang="en-US" b="1"/>
              <a:t>Testing All Branches</a:t>
            </a:r>
          </a:p>
          <a:p>
            <a:pPr marL="0" lvl="1" indent="0">
              <a:spcAft>
                <a:spcPts val="600"/>
              </a:spcAft>
              <a:buFont typeface="Arial" panose="020B0604020202020204" pitchFamily="34" charset="0"/>
              <a:buNone/>
            </a:pPr>
            <a:r>
              <a:t>Test every possible answer path to ensure branching logic works correctly and no questions are skipped.</a:t>
            </a:r>
            <a:endParaRPr lang="en-US"/>
          </a:p>
          <a:p>
            <a:pPr marL="0" indent="0">
              <a:spcBef>
                <a:spcPts val="2500"/>
              </a:spcBef>
              <a:spcAft>
                <a:spcPts val="600"/>
              </a:spcAft>
              <a:buFont typeface="Arial" panose="020B0604020202020204" pitchFamily="34" charset="0"/>
              <a:buNone/>
            </a:pPr>
            <a:r>
              <a:rPr lang="en-US" b="1"/>
              <a:t>Quality Assurance</a:t>
            </a:r>
          </a:p>
          <a:p>
            <a:pPr marL="0" lvl="1" indent="0">
              <a:spcAft>
                <a:spcPts val="600"/>
              </a:spcAft>
              <a:buFont typeface="Arial" panose="020B0604020202020204" pitchFamily="34" charset="0"/>
              <a:buNone/>
            </a:pPr>
            <a:r>
              <a:t>Testing helps identify logic gaps and ensures smooth user experience before form sharing.</a:t>
            </a:r>
            <a:endParaRPr lang="en-US"/>
          </a:p>
          <a:p>
            <a:pPr marL="0" indent="0">
              <a:spcBef>
                <a:spcPts val="2500"/>
              </a:spcBef>
              <a:spcAft>
                <a:spcPts val="600"/>
              </a:spcAft>
              <a:buFont typeface="Arial" panose="020B0604020202020204" pitchFamily="34" charset="0"/>
              <a:buNone/>
            </a:pPr>
            <a:r>
              <a:rPr lang="en-US" b="1"/>
              <a:t>Peer Review</a:t>
            </a:r>
          </a:p>
          <a:p>
            <a:pPr marL="0" lvl="1" indent="0">
              <a:spcAft>
                <a:spcPts val="600"/>
              </a:spcAft>
              <a:buFont typeface="Arial" panose="020B0604020202020204" pitchFamily="34" charset="0"/>
              <a:buNone/>
            </a:pPr>
            <a:r>
              <a:t>Having a colleague test the form can reveal overlooked issues and improve quality.</a:t>
            </a:r>
            <a:endParaRPr lang="en-US"/>
          </a:p>
        </p:txBody>
      </p:sp>
      <p:pic>
        <p:nvPicPr>
          <p:cNvPr id="5" name="Content Placeholder 4" descr="Hand holding smartphone with stock graph">
            <a:extLst>
              <a:ext uri="{FF2B5EF4-FFF2-40B4-BE49-F238E27FC236}">
                <a16:creationId xmlns:a16="http://schemas.microsoft.com/office/drawing/2014/main" id="{DFFF79CB-C390-4F76-882B-E49E7C50E729}"/>
              </a:ext>
            </a:extLst>
          </p:cNvPr>
          <p:cNvPicPr>
            <a:picLocks noGrp="1" noChangeAspect="1"/>
          </p:cNvPicPr>
          <p:nvPr>
            <p:ph type="pic" sz="quarter" idx="13"/>
          </p:nvPr>
        </p:nvPicPr>
        <p:blipFill>
          <a:blip r:embed="rId3"/>
          <a:srcRect l="23902" r="30914" b="1"/>
          <a:stretch>
            <a:fillRect/>
          </a:stretch>
        </p:blipFill>
        <p:spPr>
          <a:xfrm>
            <a:off x="8168640" y="457199"/>
            <a:ext cx="4023360" cy="5943601"/>
          </a:xfrm>
        </p:spPr>
      </p:pic>
    </p:spTree>
    <p:extLst>
      <p:ext uri="{BB962C8B-B14F-4D97-AF65-F5344CB8AC3E}">
        <p14:creationId xmlns:p14="http://schemas.microsoft.com/office/powerpoint/2010/main" val="2900969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F7326-06A2-4D94-050F-971B3962B5F9}"/>
              </a:ext>
            </a:extLst>
          </p:cNvPr>
          <p:cNvSpPr>
            <a:spLocks noGrp="1"/>
          </p:cNvSpPr>
          <p:nvPr>
            <p:ph type="title"/>
          </p:nvPr>
        </p:nvSpPr>
        <p:spPr>
          <a:xfrm>
            <a:off x="457200" y="457201"/>
            <a:ext cx="5029200" cy="1519083"/>
          </a:xfrm>
        </p:spPr>
        <p:txBody>
          <a:bodyPr anchor="t">
            <a:normAutofit/>
          </a:bodyPr>
          <a:lstStyle/>
          <a:p>
            <a:r>
              <a:rPr lang="en-US"/>
              <a:t>Finalizing, Saving, and Sharing the Branched Form</a:t>
            </a:r>
          </a:p>
        </p:txBody>
      </p:sp>
      <p:pic>
        <p:nvPicPr>
          <p:cNvPr id="5" name="Content Placeholder 4" descr="Social media and people 4K">
            <a:extLst>
              <a:ext uri="{FF2B5EF4-FFF2-40B4-BE49-F238E27FC236}">
                <a16:creationId xmlns:a16="http://schemas.microsoft.com/office/drawing/2014/main" id="{CCD3752D-A649-4BD1-A249-8DB0965CCC1C}"/>
              </a:ext>
            </a:extLst>
          </p:cNvPr>
          <p:cNvPicPr>
            <a:picLocks noGrp="1" noChangeAspect="1"/>
          </p:cNvPicPr>
          <p:nvPr>
            <p:ph type="pic" sz="quarter" idx="13"/>
          </p:nvPr>
        </p:nvPicPr>
        <p:blipFill>
          <a:blip r:embed="rId3"/>
          <a:stretch/>
        </p:blipFill>
        <p:spPr>
          <a:xfrm>
            <a:off x="457200" y="2964579"/>
            <a:ext cx="5029199" cy="2828924"/>
          </a:xfrm>
        </p:spPr>
      </p:pic>
      <p:sp>
        <p:nvSpPr>
          <p:cNvPr id="4" name="Content Placeholder 3">
            <a:extLst>
              <a:ext uri="{FF2B5EF4-FFF2-40B4-BE49-F238E27FC236}">
                <a16:creationId xmlns:a16="http://schemas.microsoft.com/office/drawing/2014/main" id="{F7E2FD01-3B48-8D5F-AE8F-1F8BF95E098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Review Branching Logic</a:t>
            </a:r>
          </a:p>
          <a:p>
            <a:pPr marL="0" lvl="1" indent="0">
              <a:spcAft>
                <a:spcPts val="600"/>
              </a:spcAft>
              <a:buFont typeface="Arial" panose="020B0604020202020204" pitchFamily="34" charset="0"/>
              <a:buNone/>
            </a:pPr>
            <a:r>
              <a:t>Conduct a final review of the form's branching logic to ensure all paths lead to logical conclusions.</a:t>
            </a:r>
            <a:endParaRPr lang="en-US"/>
          </a:p>
          <a:p>
            <a:pPr marL="0" indent="0">
              <a:spcBef>
                <a:spcPts val="2500"/>
              </a:spcBef>
              <a:spcAft>
                <a:spcPts val="600"/>
              </a:spcAft>
              <a:buFont typeface="Arial" panose="020B0604020202020204" pitchFamily="34" charset="0"/>
              <a:buNone/>
            </a:pPr>
            <a:r>
              <a:rPr lang="en-US" b="1"/>
              <a:t>Save and Auto-Save</a:t>
            </a:r>
          </a:p>
          <a:p>
            <a:pPr marL="0" lvl="1" indent="0">
              <a:spcAft>
                <a:spcPts val="600"/>
              </a:spcAft>
              <a:buFont typeface="Arial" panose="020B0604020202020204" pitchFamily="34" charset="0"/>
              <a:buNone/>
            </a:pPr>
            <a:r>
              <a:t>Microsoft Forms automatically saves changes, but verify and finalize your form before sharing.</a:t>
            </a:r>
            <a:endParaRPr lang="en-US"/>
          </a:p>
          <a:p>
            <a:pPr marL="0" indent="0">
              <a:spcBef>
                <a:spcPts val="2500"/>
              </a:spcBef>
              <a:spcAft>
                <a:spcPts val="600"/>
              </a:spcAft>
              <a:buFont typeface="Arial" panose="020B0604020202020204" pitchFamily="34" charset="0"/>
              <a:buNone/>
            </a:pPr>
            <a:r>
              <a:rPr lang="en-US" b="1"/>
              <a:t>Share Form Options</a:t>
            </a:r>
          </a:p>
          <a:p>
            <a:pPr marL="0" lvl="1" indent="0">
              <a:spcAft>
                <a:spcPts val="600"/>
              </a:spcAft>
              <a:buFont typeface="Arial" panose="020B0604020202020204" pitchFamily="34" charset="0"/>
              <a:buNone/>
            </a:pPr>
            <a:r>
              <a:t>Distribute the form via link, QR code, email, webpage embed, or Microsoft Teams channel.</a:t>
            </a:r>
            <a:endParaRPr lang="en-US"/>
          </a:p>
          <a:p>
            <a:pPr marL="0" indent="0">
              <a:spcBef>
                <a:spcPts val="2500"/>
              </a:spcBef>
              <a:spcAft>
                <a:spcPts val="600"/>
              </a:spcAft>
              <a:buFont typeface="Arial" panose="020B0604020202020204" pitchFamily="34" charset="0"/>
              <a:buNone/>
            </a:pPr>
            <a:r>
              <a:rPr lang="en-US" b="1"/>
              <a:t>Set Permissions</a:t>
            </a:r>
          </a:p>
          <a:p>
            <a:pPr marL="0" lvl="1" indent="0">
              <a:spcAft>
                <a:spcPts val="600"/>
              </a:spcAft>
              <a:buFont typeface="Arial" panose="020B0604020202020204" pitchFamily="34" charset="0"/>
              <a:buNone/>
            </a:pPr>
            <a:r>
              <a:t>Decide whether the form is accessible publicly or restricted within your organization.</a:t>
            </a:r>
            <a:endParaRPr lang="en-US"/>
          </a:p>
        </p:txBody>
      </p:sp>
    </p:spTree>
    <p:extLst>
      <p:ext uri="{BB962C8B-B14F-4D97-AF65-F5344CB8AC3E}">
        <p14:creationId xmlns:p14="http://schemas.microsoft.com/office/powerpoint/2010/main" val="949899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5</Words>
  <Application>Microsoft Office PowerPoint</Application>
  <PresentationFormat>Widescreen</PresentationFormat>
  <Paragraphs>3</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Prismatic polygons</vt:lpstr>
      <vt:lpstr>How to Create Branching in Microsoft Forms</vt:lpstr>
      <vt:lpstr>Understanding and Implementing Branching in Microsoft Forms</vt:lpstr>
      <vt:lpstr>Introduction to Branching in Microsoft Forms</vt:lpstr>
      <vt:lpstr>Accessing Branching Settings in Microsoft Forms</vt:lpstr>
      <vt:lpstr>Setting Up Branching for Questions</vt:lpstr>
      <vt:lpstr>Applying Branch Logic to Create a Personalized Flow</vt:lpstr>
      <vt:lpstr>Practical Example of Branching in Use</vt:lpstr>
      <vt:lpstr>Previewing and Testing Branching Logic</vt:lpstr>
      <vt:lpstr>Finalizing, Saving, and Sharing the Branched 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v027rag@cathaypacific.com</cp:lastModifiedBy>
  <cp:revision>5</cp:revision>
  <dcterms:created xsi:type="dcterms:W3CDTF">2025-12-23T13:06:52Z</dcterms:created>
  <dcterms:modified xsi:type="dcterms:W3CDTF">2026-03-19T04:07:21Z</dcterms:modified>
</cp:coreProperties>
</file>